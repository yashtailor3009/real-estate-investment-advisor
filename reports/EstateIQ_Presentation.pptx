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ae96a9c-7801-bd57-1a09-97137a831186}">
          <p14:sldIdLst>
            <p14:sldId id="256"/>
          </p14:sldIdLst>
        </p14:section>
        <p14:section name="Approach" id="{cd974c3e-5cf5-51ef-f679-a11ae30a77b2}">
          <p14:sldIdLst>
            <p14:sldId id="257"/>
            <p14:sldId id="258"/>
          </p14:sldIdLst>
        </p14:section>
        <p14:section name="Insights" id="{20a1f6dd-aa42-7480-aeaf-525a0bf1cf65}">
          <p14:sldIdLst>
            <p14:sldId id="259"/>
            <p14:sldId id="260"/>
            <p14:sldId id="261"/>
            <p14:sldId id="262"/>
          </p14:sldIdLst>
        </p14:section>
        <p14:section name="Models" id="{9ee280fe-529e-6190-8e49-26a8df539f57}">
          <p14:sldIdLst>
            <p14:sldId id="263"/>
          </p14:sldIdLst>
        </p14:section>
        <p14:section name="Delivery" id="{7a6c1135-d997-92e1-7e0d-a506a72be3c4}">
          <p14:sldIdLst>
            <p14:sldId id="264"/>
          </p14:sldIdLst>
        </p14:section>
        <p14:section name="Close" id="{0fa22756-2729-6994-0b78-da52bbf1ae9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Transit access</c:v>
                  </c:pt>
                  <c:pt idx="1">
                    <c:v>Furnishing</c:v>
                  </c:pt>
                  <c:pt idx="2">
                    <c:v>Owner type</c:v>
                  </c:pt>
                  <c:pt idx="3">
                    <c:v>Property type</c:v>
                  </c:pt>
                  <c:pt idx="4">
                    <c:v>Facing</c:v>
                  </c:pt>
                  <c:pt idx="5">
                    <c:v>State</c:v>
                  </c:pt>
                  <c:pt idx="6">
                    <c:v>City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</c:v>
                </c:pt>
                <c:pt idx="1">
                  <c:v>0.5</c:v>
                </c:pt>
                <c:pt idx="2">
                  <c:v>0.6</c:v>
                </c:pt>
                <c:pt idx="3">
                  <c:v>0.6</c:v>
                </c:pt>
                <c:pt idx="4">
                  <c:v>0.9</c:v>
                </c:pt>
                <c:pt idx="5">
                  <c:v>2.5</c:v>
                </c:pt>
                <c:pt idx="6">
                  <c:v>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B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₹/sq ft</c:v>
                </c:pt>
              </c:strCache>
            </c:strRef>
          </c:tx>
          <c:spPr>
            <a:solidFill>
              <a:srgbClr val="1632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B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1-500</c:v>
                  </c:pt>
                  <c:pt idx="1">
                    <c:v>501-1000</c:v>
                  </c:pt>
                  <c:pt idx="2">
                    <c:v>1001-1500</c:v>
                  </c:pt>
                  <c:pt idx="3">
                    <c:v>1501-2000</c:v>
                  </c:pt>
                  <c:pt idx="4">
                    <c:v>2001-2500</c:v>
                  </c:pt>
                  <c:pt idx="5">
                    <c:v>2501-3000</c:v>
                  </c:pt>
                  <c:pt idx="6">
                    <c:v>3001-3500</c:v>
                  </c:pt>
                  <c:pt idx="7">
                    <c:v>3501-4000</c:v>
                  </c:pt>
                  <c:pt idx="8">
                    <c:v>4001-4500</c:v>
                  </c:pt>
                  <c:pt idx="9">
                    <c:v>4501-5000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52069</c:v>
                </c:pt>
                <c:pt idx="1">
                  <c:v>35426</c:v>
                </c:pt>
                <c:pt idx="2">
                  <c:v>20719</c:v>
                </c:pt>
                <c:pt idx="3">
                  <c:v>14633</c:v>
                </c:pt>
                <c:pt idx="4">
                  <c:v>11338</c:v>
                </c:pt>
                <c:pt idx="5">
                  <c:v>9261</c:v>
                </c:pt>
                <c:pt idx="6">
                  <c:v>7814</c:v>
                </c:pt>
                <c:pt idx="7">
                  <c:v>6809</c:v>
                </c:pt>
                <c:pt idx="8">
                  <c:v>6002</c:v>
                </c:pt>
                <c:pt idx="9">
                  <c:v>5350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B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B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%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B8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674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Deep discount (&lt;0.5x)</c:v>
                  </c:pt>
                  <c:pt idx="1">
                    <c:v>Below median (0.5-1x)</c:v>
                  </c:pt>
                  <c:pt idx="2">
                    <c:v>Above median (1-1.5x)</c:v>
                  </c:pt>
                  <c:pt idx="3">
                    <c:v>Premium (&gt;1.5x)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80.8</c:v>
                </c:pt>
                <c:pt idx="1">
                  <c:v>55.1</c:v>
                </c:pt>
                <c:pt idx="2">
                  <c:v>27.9</c:v>
                </c:pt>
                <c:pt idx="3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B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30.4</c:v>
                </c:pt>
                <c:pt idx="1">
                  <c:v>34.8</c:v>
                </c:pt>
                <c:pt idx="2">
                  <c:v>39.4</c:v>
                </c:pt>
                <c:pt idx="3">
                  <c:v>43.7</c:v>
                </c:pt>
                <c:pt idx="4">
                  <c:v>47.6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B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%</c:v>
                </c:pt>
              </c:strCache>
            </c:strRef>
          </c:tx>
          <c:spPr>
            <a:solidFill>
              <a:srgbClr val="16325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Transit: High</c:v>
                  </c:pt>
                  <c:pt idx="1">
                    <c:v>Transit: Medium</c:v>
                  </c:pt>
                  <c:pt idx="2">
                    <c:v>Transit: Low</c:v>
                  </c:pt>
                  <c:pt idx="3">
                    <c:v>Ready to Move</c:v>
                  </c:pt>
                  <c:pt idx="4">
                    <c:v>Under Construction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45.4</c:v>
                </c:pt>
                <c:pt idx="1">
                  <c:v>39.2</c:v>
                </c:pt>
                <c:pt idx="2">
                  <c:v>32.9</c:v>
                </c:pt>
                <c:pt idx="3">
                  <c:v>29.6</c:v>
                </c:pt>
                <c:pt idx="4">
                  <c:v>48.7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B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answers two investor questions with data: a classification (good investment or not) and a regression (price in five years).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dataset has no price history, so appreciation and the label come from transparent rules plus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bar is the max-min of group average price per square foot divided by the overall mean. Seven of eight factors are essentially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regression beats a constant-growth baseline by more than half on RMSE. Be clear that targets are rule-derived.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al_estate_advisor/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834640" cy="11247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BFD3EA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al_estate_advisor/assets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81728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681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</a:rPr>
              <a:t>EstateIQ · Real Estate Investment Advisor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0B1F3A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al_estate_advisor/assets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81728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Is it a good investment, and what will it be worth in 5 years?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337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3EA"/>
                </a:solidFill>
              </a:rPr>
              <a:t>Real estate analytics on 250,000 Indian listings: SQL insights, machine learning and an interactive Streamlit advisor.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One pipeline, four deliverables</a:t>
            </a:r>
            <a:endParaRPr lang="en-US" sz="2400" dirty="0"/>
          </a:p>
        </p:txBody>
      </p:sp>
      <p:sp>
        <p:nvSpPr>
          <p:cNvPr id="3" name="Step 1 card"/>
          <p:cNvSpPr/>
          <p:nvPr/>
        </p:nvSpPr>
        <p:spPr>
          <a:xfrm>
            <a:off x="457200" y="1325880"/>
            <a:ext cx="1901952" cy="2743200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Step 1 badge"/>
          <p:cNvSpPr/>
          <p:nvPr/>
        </p:nvSpPr>
        <p:spPr>
          <a:xfrm>
            <a:off x="1133856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lean &amp; engin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1691640"/>
            <a:ext cx="274320" cy="274320"/>
          </a:xfrm>
          <a:prstGeom prst="rect">
            <a:avLst/>
          </a:prstGeom>
        </p:spPr>
      </p:pic>
      <p:sp>
        <p:nvSpPr>
          <p:cNvPr id="6" name="Step 1 title"/>
          <p:cNvSpPr txBox="1"/>
          <p:nvPr/>
        </p:nvSpPr>
        <p:spPr>
          <a:xfrm>
            <a:off x="594360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Clean &amp; engineer</a:t>
            </a:r>
            <a:endParaRPr lang="en-US" sz="1500" dirty="0"/>
          </a:p>
        </p:txBody>
      </p:sp>
      <p:sp>
        <p:nvSpPr>
          <p:cNvPr id="7" name="Step 1 text"/>
          <p:cNvSpPr txBox="1"/>
          <p:nvPr/>
        </p:nvSpPr>
        <p:spPr>
          <a:xfrm>
            <a:off x="594360" y="269748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Duplicates, missing values, outliers, 10+ new features</a:t>
            </a:r>
            <a:endParaRPr lang="en-US" sz="1200" dirty="0"/>
          </a:p>
        </p:txBody>
      </p:sp>
      <p:sp>
        <p:nvSpPr>
          <p:cNvPr id="8" name="Step 2 card"/>
          <p:cNvSpPr/>
          <p:nvPr/>
        </p:nvSpPr>
        <p:spPr>
          <a:xfrm>
            <a:off x="2542032" y="1325880"/>
            <a:ext cx="1901952" cy="2743200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9" name="Step 2 badge"/>
          <p:cNvSpPr/>
          <p:nvPr/>
        </p:nvSpPr>
        <p:spPr>
          <a:xfrm>
            <a:off x="3218688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Analyse in SQ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691640"/>
            <a:ext cx="274320" cy="274320"/>
          </a:xfrm>
          <a:prstGeom prst="rect">
            <a:avLst/>
          </a:prstGeom>
        </p:spPr>
      </p:pic>
      <p:sp>
        <p:nvSpPr>
          <p:cNvPr id="11" name="Step 2 title"/>
          <p:cNvSpPr txBox="1"/>
          <p:nvPr/>
        </p:nvSpPr>
        <p:spPr>
          <a:xfrm>
            <a:off x="2679192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Analyse in SQL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2679192" y="269748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33 documented queries on a 250K-row SQLite database</a:t>
            </a:r>
            <a:endParaRPr lang="en-US" sz="1200" dirty="0"/>
          </a:p>
        </p:txBody>
      </p:sp>
      <p:sp>
        <p:nvSpPr>
          <p:cNvPr id="13" name="Step 3 card"/>
          <p:cNvSpPr/>
          <p:nvPr/>
        </p:nvSpPr>
        <p:spPr>
          <a:xfrm>
            <a:off x="4626864" y="1325880"/>
            <a:ext cx="1901952" cy="2743200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4" name="Step 3 badge"/>
          <p:cNvSpPr/>
          <p:nvPr/>
        </p:nvSpPr>
        <p:spPr>
          <a:xfrm>
            <a:off x="53035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Mod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91640"/>
            <a:ext cx="274320" cy="274320"/>
          </a:xfrm>
          <a:prstGeom prst="rect">
            <a:avLst/>
          </a:prstGeom>
        </p:spPr>
      </p:pic>
      <p:sp>
        <p:nvSpPr>
          <p:cNvPr id="16" name="Step 3 title"/>
          <p:cNvSpPr txBox="1"/>
          <p:nvPr/>
        </p:nvSpPr>
        <p:spPr>
          <a:xfrm>
            <a:off x="4764024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</a:t>
            </a:r>
            <a:endParaRPr lang="en-US" sz="1500" dirty="0"/>
          </a:p>
        </p:txBody>
      </p:sp>
      <p:sp>
        <p:nvSpPr>
          <p:cNvPr id="17" name="Step 3 text"/>
          <p:cNvSpPr txBox="1"/>
          <p:nvPr/>
        </p:nvSpPr>
        <p:spPr>
          <a:xfrm>
            <a:off x="4764024" y="269748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Classifier + 5-year price regressor, tracked with MLflow</a:t>
            </a:r>
            <a:endParaRPr lang="en-US" sz="1200" dirty="0"/>
          </a:p>
        </p:txBody>
      </p:sp>
      <p:sp>
        <p:nvSpPr>
          <p:cNvPr id="18" name="Step 4 card"/>
          <p:cNvSpPr/>
          <p:nvPr/>
        </p:nvSpPr>
        <p:spPr>
          <a:xfrm>
            <a:off x="6711696" y="1325880"/>
            <a:ext cx="1901952" cy="2743200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9" name="Step 4 badge"/>
          <p:cNvSpPr/>
          <p:nvPr/>
        </p:nvSpPr>
        <p:spPr>
          <a:xfrm>
            <a:off x="7388352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Deli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691640"/>
            <a:ext cx="274320" cy="274320"/>
          </a:xfrm>
          <a:prstGeom prst="rect">
            <a:avLst/>
          </a:prstGeom>
        </p:spPr>
      </p:pic>
      <p:sp>
        <p:nvSpPr>
          <p:cNvPr id="21" name="Step 4 title"/>
          <p:cNvSpPr txBox="1"/>
          <p:nvPr/>
        </p:nvSpPr>
        <p:spPr>
          <a:xfrm>
            <a:off x="6848856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Deliver</a:t>
            </a:r>
            <a:endParaRPr lang="en-US" sz="1500" dirty="0"/>
          </a:p>
        </p:txBody>
      </p:sp>
      <p:sp>
        <p:nvSpPr>
          <p:cNvPr id="22" name="Step 4 text"/>
          <p:cNvSpPr txBox="1"/>
          <p:nvPr/>
        </p:nvSpPr>
        <p:spPr>
          <a:xfrm>
            <a:off x="6848856" y="269748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Streamlit advisor, SQL lab, PDF report, this deck</a:t>
            </a:r>
            <a:endParaRPr lang="en-US" sz="1200" dirty="0"/>
          </a:p>
        </p:txBody>
      </p:sp>
      <p:sp>
        <p:nvSpPr>
          <p:cNvPr id="23" name="Flow caption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90"/>
                </a:solidFill>
              </a:rPr>
              <a:t>Raw CSV  →  cleaned data  →  SQLite + models  →  Streamlit + reports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The data is clean, but one field is badly broken</a:t>
            </a:r>
            <a:endParaRPr lang="en-US" sz="2400" dirty="0"/>
          </a:p>
        </p:txBody>
      </p:sp>
      <p:sp>
        <p:nvSpPr>
          <p:cNvPr id="3" name="Rows card"/>
          <p:cNvSpPr/>
          <p:nvPr/>
        </p:nvSpPr>
        <p:spPr>
          <a:xfrm>
            <a:off x="457200" y="128016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Rows accent"/>
          <p:cNvSpPr/>
          <p:nvPr/>
        </p:nvSpPr>
        <p:spPr>
          <a:xfrm>
            <a:off x="466344" y="1444752"/>
            <a:ext cx="64008" cy="63093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ows value"/>
          <p:cNvSpPr txBox="1"/>
          <p:nvPr/>
        </p:nvSpPr>
        <p:spPr>
          <a:xfrm>
            <a:off x="658368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250,000</a:t>
            </a:r>
            <a:endParaRPr lang="en-US" sz="2600" dirty="0"/>
          </a:p>
        </p:txBody>
      </p:sp>
      <p:sp>
        <p:nvSpPr>
          <p:cNvPr id="6" name="Rows label"/>
          <p:cNvSpPr txBox="1"/>
          <p:nvPr/>
        </p:nvSpPr>
        <p:spPr>
          <a:xfrm>
            <a:off x="658368" y="18470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listings, no duplicates or nulls</a:t>
            </a:r>
            <a:endParaRPr lang="en-US" sz="1100" dirty="0"/>
          </a:p>
        </p:txBody>
      </p:sp>
      <p:sp>
        <p:nvSpPr>
          <p:cNvPr id="7" name="Geography card"/>
          <p:cNvSpPr/>
          <p:nvPr/>
        </p:nvSpPr>
        <p:spPr>
          <a:xfrm>
            <a:off x="2514600" y="128016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8" name="Geography accent"/>
          <p:cNvSpPr/>
          <p:nvPr/>
        </p:nvSpPr>
        <p:spPr>
          <a:xfrm>
            <a:off x="2523744" y="1444752"/>
            <a:ext cx="64008" cy="63093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Geography value"/>
          <p:cNvSpPr txBox="1"/>
          <p:nvPr/>
        </p:nvSpPr>
        <p:spPr>
          <a:xfrm>
            <a:off x="2715768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20/42/500</a:t>
            </a:r>
            <a:endParaRPr lang="en-US" sz="2000" dirty="0"/>
          </a:p>
        </p:txBody>
      </p:sp>
      <p:sp>
        <p:nvSpPr>
          <p:cNvPr id="10" name="Geography label"/>
          <p:cNvSpPr txBox="1"/>
          <p:nvPr/>
        </p:nvSpPr>
        <p:spPr>
          <a:xfrm>
            <a:off x="2715768" y="18470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states · cities · localities</a:t>
            </a:r>
            <a:endParaRPr lang="en-US" sz="1100" dirty="0"/>
          </a:p>
        </p:txBody>
      </p:sp>
      <p:sp>
        <p:nvSpPr>
          <p:cNvPr id="11" name="Floors card"/>
          <p:cNvSpPr/>
          <p:nvPr/>
        </p:nvSpPr>
        <p:spPr>
          <a:xfrm>
            <a:off x="4572000" y="128016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2" name="Floors accent"/>
          <p:cNvSpPr/>
          <p:nvPr/>
        </p:nvSpPr>
        <p:spPr>
          <a:xfrm>
            <a:off x="4581144" y="1444752"/>
            <a:ext cx="64008" cy="63093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Floors value"/>
          <p:cNvSpPr txBox="1"/>
          <p:nvPr/>
        </p:nvSpPr>
        <p:spPr>
          <a:xfrm>
            <a:off x="4773168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46.5%</a:t>
            </a:r>
            <a:endParaRPr lang="en-US" sz="2600" dirty="0"/>
          </a:p>
        </p:txBody>
      </p:sp>
      <p:sp>
        <p:nvSpPr>
          <p:cNvPr id="14" name="Floors label"/>
          <p:cNvSpPr txBox="1"/>
          <p:nvPr/>
        </p:nvSpPr>
        <p:spPr>
          <a:xfrm>
            <a:off x="4773168" y="18470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rows with floor above building height</a:t>
            </a:r>
            <a:endParaRPr lang="en-US" sz="1100" dirty="0"/>
          </a:p>
        </p:txBody>
      </p:sp>
      <p:sp>
        <p:nvSpPr>
          <p:cNvPr id="15" name="Outliers card"/>
          <p:cNvSpPr/>
          <p:nvPr/>
        </p:nvSpPr>
        <p:spPr>
          <a:xfrm>
            <a:off x="6629400" y="1280160"/>
            <a:ext cx="20574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6" name="Outliers accent"/>
          <p:cNvSpPr/>
          <p:nvPr/>
        </p:nvSpPr>
        <p:spPr>
          <a:xfrm>
            <a:off x="6638544" y="1444752"/>
            <a:ext cx="64008" cy="63093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Outliers value"/>
          <p:cNvSpPr txBox="1"/>
          <p:nvPr/>
        </p:nvSpPr>
        <p:spPr>
          <a:xfrm>
            <a:off x="6830568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7.89%</a:t>
            </a:r>
            <a:endParaRPr lang="en-US" sz="2600" dirty="0"/>
          </a:p>
        </p:txBody>
      </p:sp>
      <p:sp>
        <p:nvSpPr>
          <p:cNvPr id="18" name="Outliers label"/>
          <p:cNvSpPr txBox="1"/>
          <p:nvPr/>
        </p:nvSpPr>
        <p:spPr>
          <a:xfrm>
            <a:off x="6830568" y="18470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price/sq ft outliers (IQR rule)</a:t>
            </a:r>
            <a:endParaRPr lang="en-US" sz="1100" dirty="0"/>
          </a:p>
        </p:txBody>
      </p:sp>
      <p:sp>
        <p:nvSpPr>
          <p:cNvPr id="19" name="Targets card"/>
          <p:cNvSpPr/>
          <p:nvPr/>
        </p:nvSpPr>
        <p:spPr>
          <a:xfrm>
            <a:off x="457200" y="2423160"/>
            <a:ext cx="822960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20" name="Targets text"/>
          <p:cNvSpPr txBox="1"/>
          <p:nvPr/>
        </p:nvSpPr>
        <p:spPr>
          <a:xfrm>
            <a:off x="685800" y="2514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F3A"/>
                </a:solidFill>
              </a:rPr>
              <a:t>The brief's targets are not in the file, so they are modelled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B44"/>
                </a:solidFill>
              </a:rPr>
              <a:t>Annual appreciation = 4.5% base + infrastructure + amenities + security/parking + construction status + building age + price vs city median + simulated noise.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B44"/>
                </a:solidFill>
              </a:rPr>
              <a:t>5-year price = price × (1 + appreciation)^5.   Good Investment = appreciation ≥ 9% and price/sq ft ≤ 1.5× the city median.</a:t>
            </a:r>
            <a:endParaRPr lang="en-US" sz="1300" dirty="0"/>
          </a:p>
        </p:txBody>
      </p:sp>
      <p:sp>
        <p:nvSpPr>
          <p:cNvPr id="21" name="Insight box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BEF"/>
          </a:solidFill>
          <a:ln w="12700">
            <a:solidFill>
              <a:srgbClr val="F2674B"/>
            </a:solidFill>
            <a:prstDash val="solid"/>
          </a:ln>
        </p:spPr>
      </p:sp>
      <p:sp>
        <p:nvSpPr>
          <p:cNvPr id="22" name="Insight text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Insight  </a:t>
            </a:r>
            <a:pPr indent="0" marL="0">
              <a:buNone/>
            </a:pPr>
            <a:r>
              <a:rPr lang="en-US" sz="1250" dirty="0">
                <a:solidFill>
                  <a:srgbClr val="1B2B44"/>
                </a:solidFill>
              </a:rPr>
              <a:t>39% of listings qualify as a Good Investment. Descriptive charts are observed data; investment metrics are scenario-based.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Where you buy barely changes what you pay per sq ft</a:t>
            </a:r>
            <a:endParaRPr lang="en-US" sz="2400" dirty="0"/>
          </a:p>
        </p:txBody>
      </p:sp>
      <p:sp>
        <p:nvSpPr>
          <p:cNvPr id="3" name="Chart card"/>
          <p:cNvSpPr/>
          <p:nvPr/>
        </p:nvSpPr>
        <p:spPr>
          <a:xfrm>
            <a:off x="457200" y="1188720"/>
            <a:ext cx="512064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Chart title"/>
          <p:cNvSpPr txBox="1"/>
          <p:nvPr/>
        </p:nvSpPr>
        <p:spPr>
          <a:xfrm>
            <a:off x="640080" y="12618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Gap between highest and lowest group average (% of overall)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4937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ontrast card"/>
          <p:cNvSpPr/>
          <p:nvPr/>
        </p:nvSpPr>
        <p:spPr>
          <a:xfrm>
            <a:off x="5760720" y="1188720"/>
            <a:ext cx="292608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7" name="Contrast label"/>
          <p:cNvSpPr txBox="1"/>
          <p:nvPr/>
        </p:nvSpPr>
        <p:spPr>
          <a:xfrm>
            <a:off x="594360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By contrast</a:t>
            </a:r>
            <a:endParaRPr lang="en-US" sz="1200" dirty="0"/>
          </a:p>
        </p:txBody>
      </p:sp>
      <p:sp>
        <p:nvSpPr>
          <p:cNvPr id="8" name="Size gap value"/>
          <p:cNvSpPr txBox="1"/>
          <p:nvPr/>
        </p:nvSpPr>
        <p:spPr>
          <a:xfrm>
            <a:off x="594360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358%</a:t>
            </a:r>
            <a:endParaRPr lang="en-US" sz="4400" dirty="0"/>
          </a:p>
        </p:txBody>
      </p:sp>
      <p:sp>
        <p:nvSpPr>
          <p:cNvPr id="9" name="Size gap text"/>
          <p:cNvSpPr txBox="1"/>
          <p:nvPr/>
        </p:nvSpPr>
        <p:spPr>
          <a:xfrm>
            <a:off x="594360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4"/>
                </a:solidFill>
              </a:rPr>
              <a:t>gap in price per sq ft between the smallest and largest size bands</a:t>
            </a:r>
            <a:endParaRPr lang="en-US" sz="1300" dirty="0"/>
          </a:p>
        </p:txBody>
      </p:sp>
      <p:sp>
        <p:nvSpPr>
          <p:cNvPr id="10" name="Insight box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BEF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1" name="Insight text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Insight  </a:t>
            </a:r>
            <a:pPr indent="0" marL="0">
              <a:buNone/>
            </a:pPr>
            <a:r>
              <a:rPr lang="en-US" sz="1250" dirty="0">
                <a:solidFill>
                  <a:srgbClr val="1B2B44"/>
                </a:solidFill>
              </a:rPr>
              <a:t>State, city, type, furnishing, facing and transit all sit within 5% of each other. Size is the only real price driver per sq ft.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Bigger homes are far cheaper per sq ft</a:t>
            </a:r>
            <a:endParaRPr lang="en-US" sz="2400" dirty="0"/>
          </a:p>
        </p:txBody>
      </p:sp>
      <p:sp>
        <p:nvSpPr>
          <p:cNvPr id="3" name="Chart card"/>
          <p:cNvSpPr/>
          <p:nvPr/>
        </p:nvSpPr>
        <p:spPr>
          <a:xfrm>
            <a:off x="457200" y="1188720"/>
            <a:ext cx="557784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Chart title"/>
          <p:cNvSpPr txBox="1"/>
          <p:nvPr/>
        </p:nvSpPr>
        <p:spPr>
          <a:xfrm>
            <a:off x="640080" y="12618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Average ₹ per sq ft by size band (sq ft)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394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orr ppsf card"/>
          <p:cNvSpPr/>
          <p:nvPr/>
        </p:nvSpPr>
        <p:spPr>
          <a:xfrm>
            <a:off x="6217920" y="1188720"/>
            <a:ext cx="24688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7" name="Corr ppsf accent"/>
          <p:cNvSpPr/>
          <p:nvPr/>
        </p:nvSpPr>
        <p:spPr>
          <a:xfrm>
            <a:off x="6227064" y="1353312"/>
            <a:ext cx="64008" cy="63093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Corr ppsf value"/>
          <p:cNvSpPr txBox="1"/>
          <p:nvPr/>
        </p:nvSpPr>
        <p:spPr>
          <a:xfrm>
            <a:off x="6419088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-0.61</a:t>
            </a:r>
            <a:endParaRPr lang="en-US" sz="2600" dirty="0"/>
          </a:p>
        </p:txBody>
      </p:sp>
      <p:sp>
        <p:nvSpPr>
          <p:cNvPr id="9" name="Corr ppsf label"/>
          <p:cNvSpPr txBox="1"/>
          <p:nvPr/>
        </p:nvSpPr>
        <p:spPr>
          <a:xfrm>
            <a:off x="6419088" y="1755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size vs price per sq ft</a:t>
            </a:r>
            <a:endParaRPr lang="en-US" sz="1100" dirty="0"/>
          </a:p>
        </p:txBody>
      </p:sp>
      <p:sp>
        <p:nvSpPr>
          <p:cNvPr id="10" name="Corr price card"/>
          <p:cNvSpPr/>
          <p:nvPr/>
        </p:nvSpPr>
        <p:spPr>
          <a:xfrm>
            <a:off x="6217920" y="2286000"/>
            <a:ext cx="246888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1" name="Corr price accent"/>
          <p:cNvSpPr/>
          <p:nvPr/>
        </p:nvSpPr>
        <p:spPr>
          <a:xfrm>
            <a:off x="6227064" y="2450592"/>
            <a:ext cx="64008" cy="63093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Corr price value"/>
          <p:cNvSpPr txBox="1"/>
          <p:nvPr/>
        </p:nvSpPr>
        <p:spPr>
          <a:xfrm>
            <a:off x="6419088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-0.00</a:t>
            </a:r>
            <a:endParaRPr lang="en-US" sz="2600" dirty="0"/>
          </a:p>
        </p:txBody>
      </p:sp>
      <p:sp>
        <p:nvSpPr>
          <p:cNvPr id="13" name="Corr price label"/>
          <p:cNvSpPr txBox="1"/>
          <p:nvPr/>
        </p:nvSpPr>
        <p:spPr>
          <a:xfrm>
            <a:off x="6419088" y="2852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size vs total price</a:t>
            </a:r>
            <a:endParaRPr lang="en-US" sz="1100" dirty="0"/>
          </a:p>
        </p:txBody>
      </p:sp>
      <p:sp>
        <p:nvSpPr>
          <p:cNvPr id="14" name="Size note"/>
          <p:cNvSpPr txBox="1"/>
          <p:nvPr/>
        </p:nvSpPr>
        <p:spPr>
          <a:xfrm>
            <a:off x="6217920" y="3383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4"/>
                </a:solidFill>
              </a:rPr>
              <a:t>Total price ignores area, so large units are the best value per sq ft.</a:t>
            </a:r>
            <a:endParaRPr lang="en-US" sz="1200" dirty="0"/>
          </a:p>
        </p:txBody>
      </p:sp>
      <p:sp>
        <p:nvSpPr>
          <p:cNvPr id="15" name="Insight box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BEF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6" name="Insight text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Insight  </a:t>
            </a:r>
            <a:pPr indent="0" marL="0">
              <a:buNone/>
            </a:pPr>
            <a:r>
              <a:rPr lang="en-US" sz="1250" dirty="0">
                <a:solidFill>
                  <a:srgbClr val="1B2B44"/>
                </a:solidFill>
              </a:rPr>
              <a:t>Screen for larger units first: the same budget buys far more space in the 4,000-5,000 sq ft bands.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Entry price versus the city median is the biggest lever</a:t>
            </a:r>
            <a:endParaRPr lang="en-US" sz="2400" dirty="0"/>
          </a:p>
        </p:txBody>
      </p:sp>
      <p:sp>
        <p:nvSpPr>
          <p:cNvPr id="3" name="Chart card"/>
          <p:cNvSpPr/>
          <p:nvPr/>
        </p:nvSpPr>
        <p:spPr>
          <a:xfrm>
            <a:off x="457200" y="1188720"/>
            <a:ext cx="557784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Chart title"/>
          <p:cNvSpPr txBox="1"/>
          <p:nvPr/>
        </p:nvSpPr>
        <p:spPr>
          <a:xfrm>
            <a:off x="640080" y="12618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% of listings that are Good Investments (modelled)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394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Model drivers card"/>
          <p:cNvSpPr/>
          <p:nvPr/>
        </p:nvSpPr>
        <p:spPr>
          <a:xfrm>
            <a:off x="6217920" y="1188720"/>
            <a:ext cx="2468880" cy="2788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7" name="Drivers title"/>
          <p:cNvSpPr txBox="1"/>
          <p:nvPr/>
        </p:nvSpPr>
        <p:spPr>
          <a:xfrm>
            <a:off x="6400800" y="1298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Top model drivers</a:t>
            </a:r>
            <a:endParaRPr lang="en-US" sz="1300" dirty="0"/>
          </a:p>
        </p:txBody>
      </p:sp>
      <p:sp>
        <p:nvSpPr>
          <p:cNvPr id="8" name="Driver 1 name"/>
          <p:cNvSpPr txBox="1"/>
          <p:nvPr/>
        </p:nvSpPr>
        <p:spPr>
          <a:xfrm>
            <a:off x="640080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4"/>
                </a:solidFill>
              </a:rPr>
              <a:t>Value Ratio</a:t>
            </a:r>
            <a:endParaRPr lang="en-US" sz="1100" dirty="0"/>
          </a:p>
        </p:txBody>
      </p:sp>
      <p:sp>
        <p:nvSpPr>
          <p:cNvPr id="9" name="Driver 1 value"/>
          <p:cNvSpPr txBox="1"/>
          <p:nvPr/>
        </p:nvSpPr>
        <p:spPr>
          <a:xfrm>
            <a:off x="7818120" y="1691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60%</a:t>
            </a:r>
            <a:endParaRPr lang="en-US" sz="1300" dirty="0"/>
          </a:p>
        </p:txBody>
      </p:sp>
      <p:sp>
        <p:nvSpPr>
          <p:cNvPr id="10" name="Driver 2 name"/>
          <p:cNvSpPr txBox="1"/>
          <p:nvPr/>
        </p:nvSpPr>
        <p:spPr>
          <a:xfrm>
            <a:off x="6400800" y="2130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4"/>
                </a:solidFill>
              </a:rPr>
              <a:t>Availability Status</a:t>
            </a:r>
            <a:endParaRPr lang="en-US" sz="1100" dirty="0"/>
          </a:p>
        </p:txBody>
      </p:sp>
      <p:sp>
        <p:nvSpPr>
          <p:cNvPr id="11" name="Driver 2 value"/>
          <p:cNvSpPr txBox="1"/>
          <p:nvPr/>
        </p:nvSpPr>
        <p:spPr>
          <a:xfrm>
            <a:off x="7818120" y="21305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9%</a:t>
            </a:r>
            <a:endParaRPr lang="en-US" sz="1300" dirty="0"/>
          </a:p>
        </p:txBody>
      </p:sp>
      <p:sp>
        <p:nvSpPr>
          <p:cNvPr id="12" name="Driver 3 name"/>
          <p:cNvSpPr txBox="1"/>
          <p:nvPr/>
        </p:nvSpPr>
        <p:spPr>
          <a:xfrm>
            <a:off x="6400800" y="25694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4"/>
                </a:solidFill>
              </a:rPr>
              <a:t>Price per SqFt INR</a:t>
            </a:r>
            <a:endParaRPr lang="en-US" sz="1100" dirty="0"/>
          </a:p>
        </p:txBody>
      </p:sp>
      <p:sp>
        <p:nvSpPr>
          <p:cNvPr id="13" name="Driver 3 value"/>
          <p:cNvSpPr txBox="1"/>
          <p:nvPr/>
        </p:nvSpPr>
        <p:spPr>
          <a:xfrm>
            <a:off x="7818120" y="25694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8%</a:t>
            </a:r>
            <a:endParaRPr lang="en-US" sz="1300" dirty="0"/>
          </a:p>
        </p:txBody>
      </p:sp>
      <p:sp>
        <p:nvSpPr>
          <p:cNvPr id="14" name="Driver 4 name"/>
          <p:cNvSpPr txBox="1"/>
          <p:nvPr/>
        </p:nvSpPr>
        <p:spPr>
          <a:xfrm>
            <a:off x="6400800" y="3008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4"/>
                </a:solidFill>
              </a:rPr>
              <a:t>Infra Score</a:t>
            </a:r>
            <a:endParaRPr lang="en-US" sz="1100" dirty="0"/>
          </a:p>
        </p:txBody>
      </p:sp>
      <p:sp>
        <p:nvSpPr>
          <p:cNvPr id="15" name="Driver 4 value"/>
          <p:cNvSpPr txBox="1"/>
          <p:nvPr/>
        </p:nvSpPr>
        <p:spPr>
          <a:xfrm>
            <a:off x="7818120" y="30083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8%</a:t>
            </a:r>
            <a:endParaRPr lang="en-US" sz="1300" dirty="0"/>
          </a:p>
        </p:txBody>
      </p:sp>
      <p:sp>
        <p:nvSpPr>
          <p:cNvPr id="16" name="Driver 5 name"/>
          <p:cNvSpPr txBox="1"/>
          <p:nvPr/>
        </p:nvSpPr>
        <p:spPr>
          <a:xfrm>
            <a:off x="6400800" y="3447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44"/>
                </a:solidFill>
              </a:rPr>
              <a:t>Security Flag</a:t>
            </a:r>
            <a:endParaRPr lang="en-US" sz="1100" dirty="0"/>
          </a:p>
        </p:txBody>
      </p:sp>
      <p:sp>
        <p:nvSpPr>
          <p:cNvPr id="17" name="Driver 5 value"/>
          <p:cNvSpPr txBox="1"/>
          <p:nvPr/>
        </p:nvSpPr>
        <p:spPr>
          <a:xfrm>
            <a:off x="7818120" y="3447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5%</a:t>
            </a:r>
            <a:endParaRPr lang="en-US" sz="1300" dirty="0"/>
          </a:p>
        </p:txBody>
      </p:sp>
      <p:sp>
        <p:nvSpPr>
          <p:cNvPr id="18" name="Insight box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BEF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9" name="Insight text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Insight  </a:t>
            </a:r>
            <a:pPr indent="0" marL="0">
              <a:buNone/>
            </a:pPr>
            <a:r>
              <a:rPr lang="en-US" sz="1250" dirty="0">
                <a:solidFill>
                  <a:srgbClr val="1B2B44"/>
                </a:solidFill>
              </a:rPr>
              <a:t>Negotiating to below the city median lifts the odds from 28% to 55% or more. The advisor shows the exact target price.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Amenities, transit and timing add upside without adding price</a:t>
            </a:r>
            <a:endParaRPr lang="en-US" sz="2400" dirty="0"/>
          </a:p>
        </p:txBody>
      </p:sp>
      <p:sp>
        <p:nvSpPr>
          <p:cNvPr id="3" name="Amenity chart card"/>
          <p:cNvSpPr/>
          <p:nvPr/>
        </p:nvSpPr>
        <p:spPr>
          <a:xfrm>
            <a:off x="457200" y="1188720"/>
            <a:ext cx="402336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Chart title"/>
          <p:cNvSpPr txBox="1"/>
          <p:nvPr/>
        </p:nvSpPr>
        <p:spPr>
          <a:xfrm>
            <a:off x="64008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Good-Investment rate by amenity count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38404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ansit chart card"/>
          <p:cNvSpPr/>
          <p:nvPr/>
        </p:nvSpPr>
        <p:spPr>
          <a:xfrm>
            <a:off x="4663440" y="1188720"/>
            <a:ext cx="402336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7" name="Chart title"/>
          <p:cNvSpPr txBox="1"/>
          <p:nvPr/>
        </p:nvSpPr>
        <p:spPr>
          <a:xfrm>
            <a:off x="484632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By transit access and availability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600200"/>
          <a:ext cx="38404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Insight box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BE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Insight text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Insight  </a:t>
            </a:r>
            <a:pPr indent="0" marL="0">
              <a:buNone/>
            </a:pPr>
            <a:r>
              <a:rPr lang="en-US" sz="1250" dirty="0">
                <a:solidFill>
                  <a:srgbClr val="1B2B44"/>
                </a:solidFill>
              </a:rPr>
              <a:t>Price per sq ft is flat across all of these, so they are cheap sources of modelled upside. All rates are modelled.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Both models learn the investment logic well</a:t>
            </a:r>
            <a:endParaRPr lang="en-US" sz="2400" dirty="0"/>
          </a:p>
        </p:txBody>
      </p:sp>
      <p:sp>
        <p:nvSpPr>
          <p:cNvPr id="3" name="Accuracy card"/>
          <p:cNvSpPr/>
          <p:nvPr/>
        </p:nvSpPr>
        <p:spPr>
          <a:xfrm>
            <a:off x="457200" y="11887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Accuracy accent"/>
          <p:cNvSpPr/>
          <p:nvPr/>
        </p:nvSpPr>
        <p:spPr>
          <a:xfrm>
            <a:off x="466344" y="1353312"/>
            <a:ext cx="64008" cy="63093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ccuracy value"/>
          <p:cNvSpPr txBox="1"/>
          <p:nvPr/>
        </p:nvSpPr>
        <p:spPr>
          <a:xfrm>
            <a:off x="658368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87.6%</a:t>
            </a:r>
            <a:endParaRPr lang="en-US" sz="2600" dirty="0"/>
          </a:p>
        </p:txBody>
      </p:sp>
      <p:sp>
        <p:nvSpPr>
          <p:cNvPr id="6" name="Accuracy label"/>
          <p:cNvSpPr txBox="1"/>
          <p:nvPr/>
        </p:nvSpPr>
        <p:spPr>
          <a:xfrm>
            <a:off x="658368" y="1755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classifier accuracy</a:t>
            </a:r>
            <a:endParaRPr lang="en-US" sz="1100" dirty="0"/>
          </a:p>
        </p:txBody>
      </p:sp>
      <p:sp>
        <p:nvSpPr>
          <p:cNvPr id="7" name="AUC card"/>
          <p:cNvSpPr/>
          <p:nvPr/>
        </p:nvSpPr>
        <p:spPr>
          <a:xfrm>
            <a:off x="2514600" y="11887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8" name="AUC accent"/>
          <p:cNvSpPr/>
          <p:nvPr/>
        </p:nvSpPr>
        <p:spPr>
          <a:xfrm>
            <a:off x="2523744" y="1353312"/>
            <a:ext cx="64008" cy="63093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AUC value"/>
          <p:cNvSpPr txBox="1"/>
          <p:nvPr/>
        </p:nvSpPr>
        <p:spPr>
          <a:xfrm>
            <a:off x="2715768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0.953</a:t>
            </a:r>
            <a:endParaRPr lang="en-US" sz="2600" dirty="0"/>
          </a:p>
        </p:txBody>
      </p:sp>
      <p:sp>
        <p:nvSpPr>
          <p:cNvPr id="10" name="AUC label"/>
          <p:cNvSpPr txBox="1"/>
          <p:nvPr/>
        </p:nvSpPr>
        <p:spPr>
          <a:xfrm>
            <a:off x="2715768" y="1755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ROC-AUC</a:t>
            </a:r>
            <a:endParaRPr lang="en-US" sz="1100" dirty="0"/>
          </a:p>
        </p:txBody>
      </p:sp>
      <p:sp>
        <p:nvSpPr>
          <p:cNvPr id="11" name="RMSE card"/>
          <p:cNvSpPr/>
          <p:nvPr/>
        </p:nvSpPr>
        <p:spPr>
          <a:xfrm>
            <a:off x="4572000" y="11887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2" name="RMSE accent"/>
          <p:cNvSpPr/>
          <p:nvPr/>
        </p:nvSpPr>
        <p:spPr>
          <a:xfrm>
            <a:off x="4581144" y="1353312"/>
            <a:ext cx="64008" cy="63093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MSE value"/>
          <p:cNvSpPr txBox="1"/>
          <p:nvPr/>
        </p:nvSpPr>
        <p:spPr>
          <a:xfrm>
            <a:off x="4773168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16.1 L</a:t>
            </a:r>
            <a:endParaRPr lang="en-US" sz="2600" dirty="0"/>
          </a:p>
        </p:txBody>
      </p:sp>
      <p:sp>
        <p:nvSpPr>
          <p:cNvPr id="14" name="RMSE label"/>
          <p:cNvSpPr txBox="1"/>
          <p:nvPr/>
        </p:nvSpPr>
        <p:spPr>
          <a:xfrm>
            <a:off x="4773168" y="17556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RMSE vs 34.9 L baseline</a:t>
            </a:r>
            <a:endParaRPr lang="en-US" sz="1100" dirty="0"/>
          </a:p>
        </p:txBody>
      </p:sp>
      <p:sp>
        <p:nvSpPr>
          <p:cNvPr id="15" name="R2 card"/>
          <p:cNvSpPr/>
          <p:nvPr/>
        </p:nvSpPr>
        <p:spPr>
          <a:xfrm>
            <a:off x="6629400" y="1188720"/>
            <a:ext cx="205740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6" name="R2 accent"/>
          <p:cNvSpPr/>
          <p:nvPr/>
        </p:nvSpPr>
        <p:spPr>
          <a:xfrm>
            <a:off x="6638544" y="1353312"/>
            <a:ext cx="64008" cy="63093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R2 value"/>
          <p:cNvSpPr txBox="1"/>
          <p:nvPr/>
        </p:nvSpPr>
        <p:spPr>
          <a:xfrm>
            <a:off x="6830568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0.994</a:t>
            </a:r>
            <a:endParaRPr lang="en-US" sz="2600" dirty="0"/>
          </a:p>
        </p:txBody>
      </p:sp>
      <p:sp>
        <p:nvSpPr>
          <p:cNvPr id="18" name="R2 label"/>
          <p:cNvSpPr txBox="1"/>
          <p:nvPr/>
        </p:nvSpPr>
        <p:spPr>
          <a:xfrm>
            <a:off x="6830568" y="17556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regression R²</a:t>
            </a:r>
            <a:endParaRPr lang="en-US" sz="1100" dirty="0"/>
          </a:p>
        </p:txBody>
      </p:sp>
      <p:sp>
        <p:nvSpPr>
          <p:cNvPr id="19" name="Table card"/>
          <p:cNvSpPr/>
          <p:nvPr/>
        </p:nvSpPr>
        <p:spPr>
          <a:xfrm>
            <a:off x="457200" y="2286000"/>
            <a:ext cx="822960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73736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Regressor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 (L)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0.873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0.951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Ridge Regression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20.88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0.9891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0.863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0.944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17.85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B44"/>
                          </a:solidFill>
                        </a:rPr>
                        <a:t>0.9921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0.876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0.953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16.09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0.9936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Insight box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BEF"/>
          </a:solidFill>
          <a:ln w="12700">
            <a:solidFill>
              <a:srgbClr val="F2674B"/>
            </a:solidFill>
            <a:prstDash val="solid"/>
          </a:ln>
        </p:spPr>
      </p:sp>
      <p:sp>
        <p:nvSpPr>
          <p:cNvPr id="22" name="Insight text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Insight  </a:t>
            </a:r>
            <a:pPr indent="0" marL="0">
              <a:buNone/>
            </a:pPr>
            <a:r>
              <a:rPr lang="en-US" sz="1250" dirty="0">
                <a:solidFill>
                  <a:srgbClr val="1B2B44"/>
                </a:solidFill>
              </a:rPr>
              <a:t>Scores show how well models learn the rule-based targets (plus noise), not accuracy on real sale prices. Gradient Boosting wins both tasks.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 dashboard investors can actually use</a:t>
            </a:r>
            <a:endParaRPr lang="en-US" sz="2400" dirty="0"/>
          </a:p>
        </p:txBody>
      </p:sp>
      <p:sp>
        <p:nvSpPr>
          <p:cNvPr id="3" name="Feature 1 card"/>
          <p:cNvSpPr/>
          <p:nvPr/>
        </p:nvSpPr>
        <p:spPr>
          <a:xfrm>
            <a:off x="457200" y="1234440"/>
            <a:ext cx="2651760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Feature 1 badge"/>
          <p:cNvSpPr/>
          <p:nvPr/>
        </p:nvSpPr>
        <p:spPr>
          <a:xfrm>
            <a:off x="621792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nvestment Ad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27048"/>
            <a:ext cx="237744" cy="237744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1887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Investment Advisor</a:t>
            </a:r>
            <a:endParaRPr lang="en-US" sz="14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621792" y="19293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Enter a property: verdict, confidence gauge, 5-year price, negotiation target</a:t>
            </a:r>
            <a:endParaRPr lang="en-US" sz="1100" dirty="0"/>
          </a:p>
        </p:txBody>
      </p:sp>
      <p:sp>
        <p:nvSpPr>
          <p:cNvPr id="8" name="Feature 2 card"/>
          <p:cNvSpPr/>
          <p:nvPr/>
        </p:nvSpPr>
        <p:spPr>
          <a:xfrm>
            <a:off x="3264408" y="1234440"/>
            <a:ext cx="2651760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9" name="Feature 2 badge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Market Explor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527048"/>
            <a:ext cx="237744" cy="237744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3995928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Market Explorer</a:t>
            </a:r>
            <a:endParaRPr lang="en-US" sz="14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3429000" y="19293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20 guided questions with annotated, interactive charts and takeaways</a:t>
            </a:r>
            <a:endParaRPr lang="en-US" sz="1100" dirty="0"/>
          </a:p>
        </p:txBody>
      </p:sp>
      <p:sp>
        <p:nvSpPr>
          <p:cNvPr id="13" name="Feature 3 card"/>
          <p:cNvSpPr/>
          <p:nvPr/>
        </p:nvSpPr>
        <p:spPr>
          <a:xfrm>
            <a:off x="6071616" y="1234440"/>
            <a:ext cx="2651760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4" name="Feature 3 badge"/>
          <p:cNvSpPr/>
          <p:nvPr/>
        </p:nvSpPr>
        <p:spPr>
          <a:xfrm>
            <a:off x="6236208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operty Fin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527048"/>
            <a:ext cx="237744" cy="237744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6803136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Property Finder</a:t>
            </a:r>
            <a:endParaRPr lang="en-US" sz="14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6236208" y="19293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Filter by area, price, BHK; rank by projected gain; download CSV</a:t>
            </a:r>
            <a:endParaRPr lang="en-US" sz="1100" dirty="0"/>
          </a:p>
        </p:txBody>
      </p:sp>
      <p:sp>
        <p:nvSpPr>
          <p:cNvPr id="18" name="Feature 4 card"/>
          <p:cNvSpPr/>
          <p:nvPr/>
        </p:nvSpPr>
        <p:spPr>
          <a:xfrm>
            <a:off x="457200" y="2679192"/>
            <a:ext cx="2651760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19" name="Feature 4 badge"/>
          <p:cNvSpPr/>
          <p:nvPr/>
        </p:nvSpPr>
        <p:spPr>
          <a:xfrm>
            <a:off x="621792" y="28620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SQL La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71800"/>
            <a:ext cx="237744" cy="237744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188720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SQL Lab</a:t>
            </a:r>
            <a:endParaRPr lang="en-US" sz="14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621792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Live read-only SQL playground with 33 ready queries and auto-charts</a:t>
            </a:r>
            <a:endParaRPr lang="en-US" sz="1100" dirty="0"/>
          </a:p>
        </p:txBody>
      </p:sp>
      <p:sp>
        <p:nvSpPr>
          <p:cNvPr id="23" name="Feature 5 card"/>
          <p:cNvSpPr/>
          <p:nvPr/>
        </p:nvSpPr>
        <p:spPr>
          <a:xfrm>
            <a:off x="3264408" y="2679192"/>
            <a:ext cx="2651760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24" name="Feature 5 badge"/>
          <p:cNvSpPr/>
          <p:nvPr/>
        </p:nvSpPr>
        <p:spPr>
          <a:xfrm>
            <a:off x="3429000" y="28620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Model Insigh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2971800"/>
            <a:ext cx="237744" cy="237744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3995928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 Insights</a:t>
            </a:r>
            <a:endParaRPr lang="en-US" sz="14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3429000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Model comparison, ROC, confusion matrix, feature importance, MLflow</a:t>
            </a:r>
            <a:endParaRPr lang="en-US" sz="1100" dirty="0"/>
          </a:p>
        </p:txBody>
      </p:sp>
      <p:sp>
        <p:nvSpPr>
          <p:cNvPr id="28" name="Feature 6 card"/>
          <p:cNvSpPr/>
          <p:nvPr/>
        </p:nvSpPr>
        <p:spPr>
          <a:xfrm>
            <a:off x="6071616" y="2679192"/>
            <a:ext cx="2651760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29" name="Feature 6 badge"/>
          <p:cNvSpPr/>
          <p:nvPr/>
        </p:nvSpPr>
        <p:spPr>
          <a:xfrm>
            <a:off x="6236208" y="28620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Repor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971800"/>
            <a:ext cx="237744" cy="237744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6803136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Reports</a:t>
            </a:r>
            <a:endParaRPr lang="en-US" sz="14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6236208" y="3374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Insights PDF, SQL file, cleaned dataset and this presentation</a:t>
            </a:r>
            <a:endParaRPr lang="en-US" sz="1100" dirty="0"/>
          </a:p>
        </p:txBody>
      </p:sp>
      <p:sp>
        <p:nvSpPr>
          <p:cNvPr id="33" name="Run hint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90"/>
                </a:solidFill>
              </a:rPr>
              <a:t>Run:  streamlit run app.py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an investor should do</a:t>
            </a:r>
            <a:endParaRPr lang="en-US" sz="2400" dirty="0"/>
          </a:p>
        </p:txBody>
      </p:sp>
      <p:sp>
        <p:nvSpPr>
          <p:cNvPr id="3" name="Rec 1 badge"/>
          <p:cNvSpPr/>
          <p:nvPr/>
        </p:nvSpPr>
        <p:spPr>
          <a:xfrm>
            <a:off x="502920" y="12618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Rec 1 number"/>
          <p:cNvSpPr txBox="1"/>
          <p:nvPr/>
        </p:nvSpPr>
        <p:spPr>
          <a:xfrm>
            <a:off x="50292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Rec 1 text"/>
          <p:cNvSpPr txBox="1"/>
          <p:nvPr/>
        </p:nvSpPr>
        <p:spPr>
          <a:xfrm>
            <a:off x="1188720" y="11887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Buy below the city median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BFD3EA"/>
                </a:solidFill>
              </a:rPr>
              <a:t>Use the advisor's negotiation target; discounts raise Good-Investment odds from 28% to 55-81%.</a:t>
            </a:r>
            <a:endParaRPr lang="en-US" sz="1600" dirty="0"/>
          </a:p>
        </p:txBody>
      </p:sp>
      <p:sp>
        <p:nvSpPr>
          <p:cNvPr id="6" name="Rec 2 badge"/>
          <p:cNvSpPr/>
          <p:nvPr/>
        </p:nvSpPr>
        <p:spPr>
          <a:xfrm>
            <a:off x="502920" y="20848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ec 2 number"/>
          <p:cNvSpPr txBox="1"/>
          <p:nvPr/>
        </p:nvSpPr>
        <p:spPr>
          <a:xfrm>
            <a:off x="5029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Rec 2 text"/>
          <p:cNvSpPr txBox="1"/>
          <p:nvPr/>
        </p:nvSpPr>
        <p:spPr>
          <a:xfrm>
            <a:off x="1188720" y="20116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Favour fundamentals over prestige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BFD3EA"/>
                </a:solidFill>
              </a:rPr>
              <a:t>Infrastructure, transit and amenities carry no price premium here.</a:t>
            </a:r>
            <a:endParaRPr lang="en-US" sz="1600" dirty="0"/>
          </a:p>
        </p:txBody>
      </p:sp>
      <p:sp>
        <p:nvSpPr>
          <p:cNvPr id="9" name="Rec 3 badge"/>
          <p:cNvSpPr/>
          <p:nvPr/>
        </p:nvSpPr>
        <p:spPr>
          <a:xfrm>
            <a:off x="502920" y="29077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ec 3 number"/>
          <p:cNvSpPr txBox="1"/>
          <p:nvPr/>
        </p:nvSpPr>
        <p:spPr>
          <a:xfrm>
            <a:off x="50292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Rec 3 text"/>
          <p:cNvSpPr txBox="1"/>
          <p:nvPr/>
        </p:nvSpPr>
        <p:spPr>
          <a:xfrm>
            <a:off x="1188720" y="2834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Choose larger units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BFD3EA"/>
                </a:solidFill>
              </a:rPr>
              <a:t>Cost per sq ft falls steeply with size while total price stays flat.</a:t>
            </a:r>
            <a:endParaRPr lang="en-US" sz="1600" dirty="0"/>
          </a:p>
        </p:txBody>
      </p:sp>
      <p:sp>
        <p:nvSpPr>
          <p:cNvPr id="12" name="Rec 4 badge"/>
          <p:cNvSpPr/>
          <p:nvPr/>
        </p:nvSpPr>
        <p:spPr>
          <a:xfrm>
            <a:off x="502920" y="3730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Rec 4 number"/>
          <p:cNvSpPr txBox="1"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Rec 4 text"/>
          <p:cNvSpPr txBox="1"/>
          <p:nvPr/>
        </p:nvSpPr>
        <p:spPr>
          <a:xfrm>
            <a:off x="1188720" y="3657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Weigh under-construction stock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BFD3EA"/>
                </a:solidFill>
              </a:rPr>
              <a:t>Highest modelled upside, with delivery risk to consider.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Limitations and next steps</a:t>
            </a:r>
            <a:endParaRPr lang="en-US" sz="2400" dirty="0"/>
          </a:p>
        </p:txBody>
      </p:sp>
      <p:sp>
        <p:nvSpPr>
          <p:cNvPr id="3" name="Limits 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4" name="Limits text"/>
          <p:cNvSpPr txBox="1"/>
          <p:nvPr/>
        </p:nvSpPr>
        <p:spPr>
          <a:xfrm>
            <a:off x="685800" y="1325880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2674B"/>
                </a:solidFill>
              </a:rPr>
              <a:t>Limitations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44"/>
                </a:solidFill>
              </a:rPr>
              <a:t>No price history: appreciation and 5-year price are scenario-based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44"/>
                </a:solidFill>
              </a:rPr>
              <a:t>Descriptive data shows almost no link between price and location or amenities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44"/>
                </a:solidFill>
              </a:rPr>
              <a:t>No crime-rate field, so that analysis was not possible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44"/>
                </a:solidFill>
              </a:rPr>
              <a:t>Not financial advice</a:t>
            </a:r>
            <a:endParaRPr lang="en-US" sz="1300" dirty="0"/>
          </a:p>
        </p:txBody>
      </p:sp>
      <p:sp>
        <p:nvSpPr>
          <p:cNvPr id="5" name="Next 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44">
                <a:alpha val="12000"/>
              </a:srgbClr>
            </a:outerShdw>
          </a:effectLst>
        </p:spPr>
      </p:sp>
      <p:sp>
        <p:nvSpPr>
          <p:cNvPr id="6" name="Next text"/>
          <p:cNvSpPr txBox="1"/>
          <p:nvPr/>
        </p:nvSpPr>
        <p:spPr>
          <a:xfrm>
            <a:off x="4892040" y="1325880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766E"/>
                </a:solidFill>
              </a:rPr>
              <a:t>Next steps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44"/>
                </a:solidFill>
              </a:rPr>
              <a:t>Replace the rule engine with real transaction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44"/>
                </a:solidFill>
              </a:rPr>
              <a:t>Add rental yield and loan EMI to the advisor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44"/>
                </a:solidFill>
              </a:rPr>
              <a:t>Validate floor numbers at data entry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44"/>
                </a:solidFill>
              </a:rPr>
              <a:t>Deploy on Streamlit Cloud and schedule monthly retraining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681728"/>
            <a:ext cx="36576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ateIQ">
  <a:themeElements>
    <a:clrScheme name="EstateIQ">
      <a:dk1>
        <a:srgbClr val="1B2B44"/>
      </a:dk1>
      <a:lt1>
        <a:srgbClr val="FFFFFF"/>
      </a:lt1>
      <a:dk2>
        <a:srgbClr val="0B1F3A"/>
      </a:dk2>
      <a:lt2>
        <a:srgbClr val="F4F7FB"/>
      </a:lt2>
      <a:accent1>
        <a:srgbClr val="14B8A6"/>
      </a:accent1>
      <a:accent2>
        <a:srgbClr val="16325C"/>
      </a:accent2>
      <a:accent3>
        <a:srgbClr val="F5B83D"/>
      </a:accent3>
      <a:accent4>
        <a:srgbClr val="F2674B"/>
      </a:accent4>
      <a:accent5>
        <a:srgbClr val="7C5CFC"/>
      </a:accent5>
      <a:accent6>
        <a:srgbClr val="0F766E"/>
      </a:accent6>
      <a:hlink>
        <a:srgbClr val="14B8A6"/>
      </a:hlink>
      <a:folHlink>
        <a:srgbClr val="7C5CFC"/>
      </a:folHlink>
    </a:clrScheme>
    <a:fontScheme name="EstateIQ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EstateIQ - Real Estate Investment Advisor</dc:title>
  <dc:subject>PptxGenJS Presentation</dc:subject>
  <dc:creator>EstateIQ</dc:creator>
  <cp:lastModifiedBy>EstateIQ</cp:lastModifiedBy>
  <cp:revision>1</cp:revision>
  <dcterms:created xsi:type="dcterms:W3CDTF">2026-10-26T16:18:13Z</dcterms:created>
  <dcterms:modified xsi:type="dcterms:W3CDTF">2026-10-26T16:18:13Z</dcterms:modified>
</cp:coreProperties>
</file>